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55" autoAdjust="0"/>
    <p:restoredTop sz="94660"/>
  </p:normalViewPr>
  <p:slideViewPr>
    <p:cSldViewPr snapToGrid="0">
      <p:cViewPr varScale="1">
        <p:scale>
          <a:sx n="78" d="100"/>
          <a:sy n="78" d="100"/>
        </p:scale>
        <p:origin x="21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91902B-C6A0-4C92-B108-59C36D3CEE55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767696-B6CD-4DFE-84CB-3E437E5A6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580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6BF2A-896C-4A5A-BC3D-38FDFFBFD64D}" type="datetime1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09D5D-88CC-40A5-9C7B-AF51D8C1F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366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E2099-D680-4941-B862-3B3C87BCE240}" type="datetime1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09D5D-88CC-40A5-9C7B-AF51D8C1F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332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1101D-E5AE-4EEF-9AE3-2E94BB4786F0}" type="datetime1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09D5D-88CC-40A5-9C7B-AF51D8C1F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717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E0A13-F15F-4A26-A22F-E6DD9FCDE1B6}" type="datetime1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09D5D-88CC-40A5-9C7B-AF51D8C1F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382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06FB2-8D41-4074-83DA-951F0D4A4777}" type="datetime1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09D5D-88CC-40A5-9C7B-AF51D8C1F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865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6B9B2-CD45-4CC0-A07E-8976B9CB5E2D}" type="datetime1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09D5D-88CC-40A5-9C7B-AF51D8C1F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897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A00CB-5B28-4BA5-A308-AD5A82F300F3}" type="datetime1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09D5D-88CC-40A5-9C7B-AF51D8C1F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1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5FC80-F3C5-40CF-9770-EC150AC97FEE}" type="datetime1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09D5D-88CC-40A5-9C7B-AF51D8C1F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758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23AF0-3146-440D-986D-E92E8C837B6B}" type="datetime1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09D5D-88CC-40A5-9C7B-AF51D8C1F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083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DBCA3-1B32-49C2-A19D-E7DA53582BAA}" type="datetime1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09D5D-88CC-40A5-9C7B-AF51D8C1F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370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D0FCB-8889-4401-8C91-DF8B30940C1E}" type="datetime1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09D5D-88CC-40A5-9C7B-AF51D8C1FAB3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84833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94C81-6D7F-44EC-8ACF-A9B626615541}" type="datetime1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09D5D-88CC-40A5-9C7B-AF51D8C1F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651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300A4-2C25-4D33-8427-BCA5CEBE8AE5}" type="datetime1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09D5D-88CC-40A5-9C7B-AF51D8C1FAB3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752587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3C218-C45B-447B-ADA7-114996A1CBC9}" type="datetime1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09D5D-88CC-40A5-9C7B-AF51D8C1F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4963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72ABB-DF25-4441-829E-F834F44039C1}" type="datetime1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09D5D-88CC-40A5-9C7B-AF51D8C1F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309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1581E-75A1-47E4-A399-806F8BB8A39B}" type="datetime1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09D5D-88CC-40A5-9C7B-AF51D8C1F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264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C9EB09-FE02-4ABE-BC8A-A9DB1A879FD1}" type="datetime1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6D09D5D-88CC-40A5-9C7B-AF51D8C1F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958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cPcJNhXd-vk" TargetMode="External"/><Relationship Id="rId2" Type="http://schemas.openxmlformats.org/officeDocument/2006/relationships/hyperlink" Target="https://github.com/johnrickman/LiquidCrystal_I2C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713FA-2761-A583-E960-84048D60AA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Smart Medicine Reminder Box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681548-D575-3F5E-A345-DAA7BB53F6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2270" y="4050836"/>
            <a:ext cx="7941733" cy="188785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Damian Xavier - SA24 610865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B.W.T.T  De Silva - SA25 610161</a:t>
            </a:r>
          </a:p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 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Dilanka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Wijesena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362F6B-89C6-A096-E390-280EAF7A9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09D5D-88CC-40A5-9C7B-AF51D8C1FAB3}" type="slidenum">
              <a:rPr lang="en-US" sz="1200" smtClean="0"/>
              <a:t>1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5907637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7E8DE-A47A-A091-85D6-516B9CC0A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1428E-866C-E73E-C58A-8838B466C4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98473"/>
            <a:ext cx="8596668" cy="3880773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Forgetting to take medicine on time is an issue that most people have faced at multiple times in their lives. </a:t>
            </a:r>
          </a:p>
          <a:p>
            <a:r>
              <a:rPr lang="en-US" dirty="0"/>
              <a:t>The Smart Medicine Reminder Box solves this issue.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68D615-6A30-78A5-9672-F8902D8AF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09D5D-88CC-40A5-9C7B-AF51D8C1FAB3}" type="slidenum">
              <a:rPr lang="en-US" sz="1200" smtClean="0"/>
              <a:t>2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3642396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0377A-FC31-B67F-7B6F-6B24588AA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Aim and Objectives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F429D-F73D-09A9-F288-D1807FB78A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3880773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Aim: </a:t>
            </a:r>
          </a:p>
          <a:p>
            <a:pPr marL="0" indent="0">
              <a:buNone/>
            </a:pPr>
            <a:r>
              <a:rPr lang="en-US" dirty="0"/>
              <a:t>To design a smart reminder system that alerts users to take their                                            medicine at the correct time.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dirty="0"/>
              <a:t>To enable the user to set alarm times using potentiometers.</a:t>
            </a:r>
          </a:p>
          <a:p>
            <a:r>
              <a:rPr lang="en-US" dirty="0"/>
              <a:t>To provide both visual and audio alerts at the alarm time.</a:t>
            </a:r>
          </a:p>
          <a:p>
            <a:r>
              <a:rPr lang="en-US" dirty="0"/>
              <a:t>To simulate and test the design in Proteus.</a:t>
            </a:r>
          </a:p>
          <a:p>
            <a:r>
              <a:rPr lang="en-US" dirty="0"/>
              <a:t>To display all time-related data and communicate with user through an LCD display.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7509C5-2020-1122-6FC8-B86257F14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09D5D-88CC-40A5-9C7B-AF51D8C1FAB3}" type="slidenum">
              <a:rPr lang="en-US" sz="1200" smtClean="0"/>
              <a:t>3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9891641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148E7-C836-8726-84A3-54BA8B1BD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816077"/>
            <a:ext cx="4986047" cy="570271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  <a:endParaRPr lang="en-US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7B79485-0616-DD58-8502-A41521B841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2014230"/>
            <a:ext cx="8467738" cy="282954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BBBBF3-6048-23D2-69CF-E2F3F9666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09D5D-88CC-40A5-9C7B-AF51D8C1FAB3}" type="slidenum">
              <a:rPr lang="en-US" sz="1200" smtClean="0"/>
              <a:t>4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7599700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7ED92-954F-576B-FE37-041A14A33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82261"/>
            <a:ext cx="8596668" cy="461555"/>
          </a:xfrm>
        </p:spPr>
        <p:txBody>
          <a:bodyPr>
            <a:norm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Schematic Diagram</a:t>
            </a:r>
            <a:endParaRPr lang="en-US" sz="11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313B1E-8CA9-B415-827C-69146A793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598" y="785419"/>
            <a:ext cx="6904139" cy="5759101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E76F72-11A9-C05B-AE22-010368277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09D5D-88CC-40A5-9C7B-AF51D8C1FAB3}" type="slidenum">
              <a:rPr lang="en-US" sz="1200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62239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8716E-D4F5-61D4-192F-52754DFA2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57316"/>
            <a:ext cx="8596668" cy="422787"/>
          </a:xfrm>
        </p:spPr>
        <p:txBody>
          <a:bodyPr>
            <a:norm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 Chart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0A3793-05EF-7249-C74F-40EA4EBFB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09D5D-88CC-40A5-9C7B-AF51D8C1FAB3}" type="slidenum">
              <a:rPr lang="en-US" sz="1200" smtClean="0"/>
              <a:t>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B76690-1D4E-F07C-8B6D-D6BBB14733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0895" y="580103"/>
            <a:ext cx="5249545" cy="5981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295769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6BAB2-902F-5C3A-6198-6A66CB9C4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C9BC8-A78F-87CC-34F4-6FBE8DFBD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70000"/>
            <a:ext cx="8596668" cy="3880773"/>
          </a:xfrm>
        </p:spPr>
        <p:txBody>
          <a:bodyPr/>
          <a:lstStyle/>
          <a:p>
            <a:r>
              <a:rPr lang="en-US" dirty="0"/>
              <a:t>The system operating correctly during proteus simulation.</a:t>
            </a:r>
          </a:p>
          <a:p>
            <a:r>
              <a:rPr lang="en-US" dirty="0"/>
              <a:t>Alarm was accurately triggered at set time.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A7AE1CF-59C7-38D8-0032-4C4778F8E6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4435639"/>
              </p:ext>
            </p:extLst>
          </p:nvPr>
        </p:nvGraphicFramePr>
        <p:xfrm>
          <a:off x="2170019" y="2245031"/>
          <a:ext cx="5611298" cy="413118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21812">
                  <a:extLst>
                    <a:ext uri="{9D8B030D-6E8A-4147-A177-3AD203B41FA5}">
                      <a16:colId xmlns:a16="http://schemas.microsoft.com/office/drawing/2014/main" val="1171674477"/>
                    </a:ext>
                  </a:extLst>
                </a:gridCol>
                <a:gridCol w="1121812">
                  <a:extLst>
                    <a:ext uri="{9D8B030D-6E8A-4147-A177-3AD203B41FA5}">
                      <a16:colId xmlns:a16="http://schemas.microsoft.com/office/drawing/2014/main" val="2294135869"/>
                    </a:ext>
                  </a:extLst>
                </a:gridCol>
                <a:gridCol w="1122558">
                  <a:extLst>
                    <a:ext uri="{9D8B030D-6E8A-4147-A177-3AD203B41FA5}">
                      <a16:colId xmlns:a16="http://schemas.microsoft.com/office/drawing/2014/main" val="2987002671"/>
                    </a:ext>
                  </a:extLst>
                </a:gridCol>
                <a:gridCol w="1122558">
                  <a:extLst>
                    <a:ext uri="{9D8B030D-6E8A-4147-A177-3AD203B41FA5}">
                      <a16:colId xmlns:a16="http://schemas.microsoft.com/office/drawing/2014/main" val="999038029"/>
                    </a:ext>
                  </a:extLst>
                </a:gridCol>
                <a:gridCol w="1122558">
                  <a:extLst>
                    <a:ext uri="{9D8B030D-6E8A-4147-A177-3AD203B41FA5}">
                      <a16:colId xmlns:a16="http://schemas.microsoft.com/office/drawing/2014/main" val="1708230798"/>
                    </a:ext>
                  </a:extLst>
                </a:gridCol>
              </a:tblGrid>
              <a:tr h="85124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Test Condition</a:t>
                      </a:r>
                      <a:endParaRPr lang="en-US" sz="120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RTC Time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Set time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LED/Buzzer sate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User action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38401891"/>
                  </a:ext>
                </a:extLst>
              </a:tr>
              <a:tr h="123041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20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Before Alarm time</a:t>
                      </a:r>
                      <a:endParaRPr lang="en-US" sz="120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20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11:59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20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12:00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20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OFF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20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-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08627406"/>
                  </a:ext>
                </a:extLst>
              </a:tr>
              <a:tr h="95621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20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At Alarm time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20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12:00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12:00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20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ON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Take medicine Press confirm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09510719"/>
                  </a:ext>
                </a:extLst>
              </a:tr>
              <a:tr h="109331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20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After confirmation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20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12:00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20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12:00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20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OFF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Set time for new alarm time if required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55590593"/>
                  </a:ext>
                </a:extLst>
              </a:tr>
            </a:tbl>
          </a:graphicData>
        </a:graphic>
      </p:graphicFrame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917FE2-F31F-BA04-0005-3CC2FD98E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09D5D-88CC-40A5-9C7B-AF51D8C1FAB3}" type="slidenum">
              <a:rPr lang="en-US" sz="1200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04733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ED7F2-ADF6-AF87-95AD-89C6F921C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F576FF-3CBB-8FC2-7EBE-4912D0F99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8596668" cy="3880773"/>
          </a:xfrm>
        </p:spPr>
        <p:txBody>
          <a:bodyPr/>
          <a:lstStyle/>
          <a:p>
            <a:r>
              <a:rPr lang="en-US" dirty="0"/>
              <a:t>The Smart Medicine Reminder successfully achieved all project objectives.</a:t>
            </a:r>
          </a:p>
          <a:p>
            <a:r>
              <a:rPr lang="en-US" dirty="0"/>
              <a:t>It effectively reminds users to take their medicine at precise time.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F9C479-D7A6-2F54-8E94-D7739B03C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09D5D-88CC-40A5-9C7B-AF51D8C1FAB3}" type="slidenum">
              <a:rPr lang="en-US" sz="1200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3249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3BB78-82A3-60CA-9F31-331C7AD40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sz="2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FCB59-EAB1-EDDE-09AA-13363AF5ED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8596668" cy="388077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2000" dirty="0"/>
              <a:t>[[1]</a:t>
            </a:r>
          </a:p>
          <a:p>
            <a:pPr marL="0" indent="0">
              <a:buNone/>
            </a:pPr>
            <a:r>
              <a:rPr lang="en-US" sz="2000" dirty="0"/>
              <a:t>“</a:t>
            </a:r>
            <a:r>
              <a:rPr lang="en-US" sz="2000" dirty="0" err="1"/>
              <a:t>RTClib</a:t>
            </a:r>
            <a:r>
              <a:rPr lang="en-US" sz="2000" dirty="0"/>
              <a:t>,” </a:t>
            </a:r>
            <a:r>
              <a:rPr lang="en-US" sz="2000" i="1" dirty="0"/>
              <a:t>GitHub</a:t>
            </a:r>
            <a:r>
              <a:rPr lang="en-US" sz="2000" dirty="0"/>
              <a:t>, Sep. 20, 2021. https://github.com/adafruit/RTClib</a:t>
            </a:r>
          </a:p>
          <a:p>
            <a:pPr marL="0" indent="0">
              <a:buNone/>
            </a:pPr>
            <a:r>
              <a:rPr lang="en-US" sz="2000" dirty="0"/>
              <a:t>‌[2]</a:t>
            </a:r>
          </a:p>
          <a:p>
            <a:pPr marL="0" indent="0">
              <a:buNone/>
            </a:pPr>
            <a:r>
              <a:rPr lang="en-US" sz="2000" dirty="0" err="1"/>
              <a:t>J.Rickman</a:t>
            </a:r>
            <a:r>
              <a:rPr lang="en-US" sz="2000" dirty="0"/>
              <a:t>, “LiquidCrystal_I2C,” </a:t>
            </a:r>
            <a:r>
              <a:rPr lang="en-US" sz="2000" i="1" dirty="0"/>
              <a:t>GitHub</a:t>
            </a:r>
            <a:r>
              <a:rPr lang="en-US" sz="2000" dirty="0"/>
              <a:t>, Oct. 01, 2021. </a:t>
            </a:r>
            <a:r>
              <a:rPr lang="en-US" sz="2000" u="sng" dirty="0">
                <a:hlinkClick r:id="rId2"/>
              </a:rPr>
              <a:t>https://github.com/johnrickman/LiquidCrystal_I2C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[3]</a:t>
            </a:r>
          </a:p>
          <a:p>
            <a:pPr marL="0" indent="0">
              <a:buNone/>
            </a:pPr>
            <a:r>
              <a:rPr lang="en-US" sz="2000" dirty="0"/>
              <a:t>C. Gode, M. </a:t>
            </a:r>
            <a:r>
              <a:rPr lang="en-US" sz="2000" dirty="0" err="1"/>
              <a:t>Narlawar</a:t>
            </a:r>
            <a:r>
              <a:rPr lang="en-US" sz="2000" dirty="0"/>
              <a:t>, M. Thakare, N. </a:t>
            </a:r>
            <a:r>
              <a:rPr lang="en-US" sz="2000" dirty="0" err="1"/>
              <a:t>Lakade</a:t>
            </a:r>
            <a:r>
              <a:rPr lang="en-US" sz="2000" dirty="0"/>
              <a:t>, P. Parate, and S. </a:t>
            </a:r>
            <a:r>
              <a:rPr lang="en-US" sz="2000" dirty="0" err="1"/>
              <a:t>Kayarkar</a:t>
            </a:r>
            <a:r>
              <a:rPr lang="en-US" sz="2000" dirty="0"/>
              <a:t>, “Smart Medicine Reminder Box,” </a:t>
            </a:r>
            <a:r>
              <a:rPr lang="en-US" sz="2000" i="1" dirty="0"/>
              <a:t>2024 2nd International Conference on Emerging Trends in Engineering and Medical Sciences (ICETEMS)</a:t>
            </a:r>
            <a:r>
              <a:rPr lang="en-US" sz="2000" dirty="0"/>
              <a:t>, pp. 71–74, Nov. 2024, </a:t>
            </a:r>
            <a:r>
              <a:rPr lang="en-US" sz="2000" dirty="0" err="1"/>
              <a:t>doi</a:t>
            </a:r>
            <a:r>
              <a:rPr lang="en-US" sz="2000" dirty="0"/>
              <a:t>: 10.1109/icetems64039.2024.10965105.</a:t>
            </a:r>
          </a:p>
          <a:p>
            <a:pPr marL="0" indent="0">
              <a:buNone/>
            </a:pPr>
            <a:r>
              <a:rPr lang="en-US" sz="2000" dirty="0"/>
              <a:t>[4]</a:t>
            </a:r>
          </a:p>
          <a:p>
            <a:pPr marL="0" indent="0">
              <a:buNone/>
            </a:pPr>
            <a:r>
              <a:rPr lang="en-US" sz="2000" dirty="0"/>
              <a:t>The Bright Light, “Interfacing DS1307 RTC With Arduino UNO With Code and Circuit || Proteus Simulation,” </a:t>
            </a:r>
            <a:r>
              <a:rPr lang="en-US" sz="2000" i="1" dirty="0"/>
              <a:t>YouTube</a:t>
            </a:r>
            <a:r>
              <a:rPr lang="en-US" sz="2000" dirty="0"/>
              <a:t>, Jan. 20, 2023. </a:t>
            </a:r>
            <a:r>
              <a:rPr lang="en-US" sz="2000" u="sng" dirty="0">
                <a:hlinkClick r:id="rId3"/>
              </a:rPr>
              <a:t>https://www.youtube.com/watch?v=cPcJNhXd-vk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[5]</a:t>
            </a:r>
          </a:p>
          <a:p>
            <a:pPr marL="0" indent="0">
              <a:buNone/>
            </a:pPr>
            <a:r>
              <a:rPr lang="en-US" sz="2000" dirty="0" err="1"/>
              <a:t>Atopet</a:t>
            </a:r>
            <a:r>
              <a:rPr lang="en-US" sz="2000" dirty="0"/>
              <a:t> Automations, “STOP the I2C Confusion! Simulate LCD with PCF8574 in Proteus (Correct Address Explained)",” </a:t>
            </a:r>
            <a:r>
              <a:rPr lang="en-US" sz="2000" i="1" dirty="0"/>
              <a:t>YouTube</a:t>
            </a:r>
            <a:r>
              <a:rPr lang="en-US" sz="2000" dirty="0"/>
              <a:t>, Jun. 14, 2025. https://www.youtube.com/watch?v=0u0lIQrxgHo </a:t>
            </a:r>
          </a:p>
          <a:p>
            <a:pPr marL="0" indent="0">
              <a:buNone/>
            </a:pPr>
            <a:r>
              <a:rPr lang="en-US" sz="2000" dirty="0"/>
              <a:t>‌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81214A-4ADF-2999-F6FF-932643382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09D5D-88CC-40A5-9C7B-AF51D8C1FAB3}" type="slidenum">
              <a:rPr lang="en-US" sz="1200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96959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Facet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127</TotalTime>
  <Words>446</Words>
  <Application>Microsoft Office PowerPoint</Application>
  <PresentationFormat>Widescreen</PresentationFormat>
  <Paragraphs>81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Times New Roman</vt:lpstr>
      <vt:lpstr>Trebuchet MS</vt:lpstr>
      <vt:lpstr>Wingdings 3</vt:lpstr>
      <vt:lpstr>Facet</vt:lpstr>
      <vt:lpstr>Smart Medicine Reminder Box</vt:lpstr>
      <vt:lpstr>Introduction</vt:lpstr>
      <vt:lpstr>Aim and Objectives</vt:lpstr>
      <vt:lpstr>Block Diagram</vt:lpstr>
      <vt:lpstr>Schematic Diagram</vt:lpstr>
      <vt:lpstr>Flow Chart</vt:lpstr>
      <vt:lpstr>Results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Tharusha De Silva</dc:creator>
  <cp:lastModifiedBy>Tharusha De Silva</cp:lastModifiedBy>
  <cp:revision>6</cp:revision>
  <dcterms:created xsi:type="dcterms:W3CDTF">2025-11-14T13:15:45Z</dcterms:created>
  <dcterms:modified xsi:type="dcterms:W3CDTF">2025-11-14T15:23:45Z</dcterms:modified>
</cp:coreProperties>
</file>